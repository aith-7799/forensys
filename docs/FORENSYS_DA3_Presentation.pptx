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VELLORE INSTITUTE OF TECHNOLOGY (VIT CHENNAI)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  <a:latin typeface="Calibri"/>
              </a:defRPr>
            </a:pPr>
            <a:r>
              <a:t>BACSE202 — Database Systems (DA-3 Evaluation)</a:t>
            </a:r>
          </a:p>
          <a:p>
            <a:pPr>
              <a:spcBef>
                <a:spcPts val="12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FORENSYS</a:t>
            </a:r>
          </a:p>
          <a:p>
            <a:pPr>
              <a:spcBef>
                <a:spcPts val="400"/>
              </a:spcBef>
              <a:defRPr sz="2000">
                <a:solidFill>
                  <a:srgbClr val="38BDF8"/>
                </a:solidFill>
                <a:latin typeface="Calibri"/>
              </a:defRPr>
            </a:pPr>
            <a:r>
              <a:t>Digital Crime Scene Evidence &amp; Investigation Management System</a:t>
            </a:r>
          </a:p>
          <a:p>
            <a:pPr>
              <a:spcBef>
                <a:spcPts val="800"/>
              </a:spcBef>
              <a:defRPr sz="1200" i="1">
                <a:solidFill>
                  <a:srgbClr val="64748B"/>
                </a:solidFill>
                <a:latin typeface="Calibri"/>
              </a:defRPr>
            </a:pPr>
            <a:r>
              <a:t>A Hybrid Relational (Oracle 11g) &amp; Cloud Document (MongoDB Atlas) Architecture</a:t>
            </a:r>
            <a:br/>
            <a:r>
              <a:t>with Cryptographic Chain-of-Custody and Multi-Vector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Calibri"/>
              </a:defRPr>
            </a:pPr>
            <a:r>
              <a:t>DEVELOPED &amp; PRESENTED BY: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VANI MISHRA (25BPS1068)   |   VIDISHA JAIN (25BPS1089)   |   ADVAITH ANISH (25BAI1434)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FORENSYS — BACSE202 DATABASE SYSTEMS</a:t>
            </a:r>
          </a:p>
          <a:p>
            <a:pPr>
              <a:spcBef>
                <a:spcPts val="200"/>
              </a:spcBef>
              <a:defRPr sz="2200" b="1">
                <a:solidFill>
                  <a:srgbClr val="0A2540"/>
                </a:solidFill>
                <a:latin typeface="Calibri"/>
              </a:defRPr>
            </a:pPr>
            <a:r>
              <a:t>Problem Statement &amp; Domain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914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1. Evidence Spoliation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Paper logbooks and local spreadsheets lack atomic concurrency controls.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Physical logs are vulnerable to loss, accidental overwriting, and deliberate tampering.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Unrecorded custodial handoffs create legal chain-of-custody gaps that lead to court dismissals.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Zero cryptographic verification leaves forensic artifacts vulnerable to undetected file modifications.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914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8346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2. Siloed Jurisdictions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Detectives in neighboring precincts cannot cross-reference evidence signatures.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Serial perpetrators using the same weapon serial or malware file hash evade multi-case detection.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No automated correlation engine exists to analyze geospatial and temporal proximity.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Lack of centralized reporting creates huge administrative delays in criminal prosecutions.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9144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8346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3. Absence of Active Controls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Legacy relational databases lack row-level triggers to stop evidence insertion onto closed cases.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Case status modifications frequently fail to record non-repudiable audit logs.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No separation of duties exists between investigating officers, lab scientists, and judges.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Lack of real-time chronological feeds makes trial preparation arduous and prone to error.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FORENSYS — BACSE202 DATABASE SYSTEMS</a:t>
            </a:r>
          </a:p>
          <a:p>
            <a:pPr>
              <a:spcBef>
                <a:spcPts val="200"/>
              </a:spcBef>
              <a:defRPr sz="2200" b="1">
                <a:solidFill>
                  <a:srgbClr val="0A2540"/>
                </a:solidFill>
                <a:latin typeface="Calibri"/>
              </a:defRPr>
            </a:pPr>
            <a:r>
              <a:t>Project Objectives &amp; Technical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1. BCNF Relational Modeling (Oracle 11g)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Engineer a 3NF/BCNF compliant relational database schema in Oracle Database 11g.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Enforce primary keys, unique constraints, foreign keys (CASCADE), and check constraints.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2. Cryptographic SHA-256 Hashing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Compute 64-character SHA-256 hexadecimal digests for all digital evidence.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Implement active trigger-based traps to detect identical digital artifacts across disparate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66344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3. Active Active PL/SQL Database Features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Deploy TRG_AUDIT_CASE_STATUS and TRG_PREVENT_CLOSED_CASE_EVID triggers.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Develop SP_TRANSFER_CUSTODY, SP_REGISTER_NEW_CASE, and GROUP BY ROLLUP queries.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297680"/>
            <a:ext cx="4663440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4. Cloud Document DB &amp; Multi-Vector Intelligence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Integrate MongoDB Atlas cloud cluster for scalable laboratory report storage.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Deploy a 4-vector intelligence engine (Digital 40%, Geo 25%, M.O. 20%, Time 15%) and network graph.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FORENSYS — BACSE202 DATABASE SYSTEMS</a:t>
            </a:r>
          </a:p>
          <a:p>
            <a:pPr>
              <a:spcBef>
                <a:spcPts val="200"/>
              </a:spcBef>
              <a:defRPr sz="2200" b="1">
                <a:solidFill>
                  <a:srgbClr val="0A2540"/>
                </a:solidFill>
                <a:latin typeface="Calibri"/>
              </a:defRPr>
            </a:pPr>
            <a:r>
              <a:t>Existing Systems vs. Proposed FORENSYS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3962095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Criteria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Conventional Evidence Systems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FORENSYS Architecture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Database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Isolated spreadsheets or monolithic local SQL database.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Hybrid Enterprise: Local Oracle 11g Relational Core + Cloud MongoDB Atlas Document DB.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Chain-of-Custody Integrity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Subjective paper signatures; transfers often unrecorded.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Cryptographic SHA-256 fingerprinting + PL/SQL Stored Procedures validating current holder.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Auditability &amp; Tampering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Manual audit reviews; status changes can be overwritten.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Active Database Trigger (TRG_AUDIT_CASE_STATUS) automatically logging actor &amp; timestamps.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Closed Case Protection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Application-level checks easily bypassed via direct SQL.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Database-level Trigger (TRG_PREVENT_CLOSED_CASE_EVID) blocking insertion on closed cases.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Cross-Case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Isolated data silos; zero automated link analysis.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Multi-Vector Correlation Engine (Digital, Geo, M.O., Time) + Interactive Graph Visualization.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FORENSYS — BACSE202 DATABASE SYSTEMS</a:t>
            </a:r>
          </a:p>
          <a:p>
            <a:pPr>
              <a:spcBef>
                <a:spcPts val="200"/>
              </a:spcBef>
              <a:defRPr sz="2200" b="1">
                <a:solidFill>
                  <a:srgbClr val="0A2540"/>
                </a:solidFill>
                <a:latin typeface="Calibri"/>
              </a:defRPr>
            </a:pPr>
            <a:r>
              <a:t>System Architecture &amp; End-to-End Investigation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Tier 1: Presentation &amp; Roles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React 19 + TypeScript + Tailwind CSS client.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Role-Based Dashboards for 4 Personas: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Investigating Officer: Case &amp; Evidence entry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Forensic Lab Analyst: Report uploads &amp; tests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System Administrator: Dashboard &amp; Users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Judicial Authority: Read-only Case Timeline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Interactive Vis-Network Intelligence Graph.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914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8346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Tier 2: Application REST Engine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Node.js (v24.18.0) + Express.js API.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Stateless JWT Authentication (15-min expiry).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Permission Guard Middleware (9 granular flags).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SHA-256 Checksum Ingestion Validator.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Four-Source Timeline Aggregation Service.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Haversine Great-Circle Distance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914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8346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Tier 3: Hybrid Database Layer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Oracle Database 11g Enterprise/XE: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ACID transactions, 3NF/BCNF relations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PL/SQL Triggers, Procedures &amp; Functions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Analytical GROUP BY ROLLUP queries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MongoDB Atlas Cloud Cluster: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High-availability 3-node replica set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Unstructured forensic reports &amp; similarity cache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High-throughput JSON document querying.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FORENSYS — BACSE202 DATABASE SYSTEMS</a:t>
            </a:r>
          </a:p>
          <a:p>
            <a:pPr>
              <a:spcBef>
                <a:spcPts val="200"/>
              </a:spcBef>
              <a:defRPr sz="2200" b="1">
                <a:solidFill>
                  <a:srgbClr val="0A2540"/>
                </a:solidFill>
                <a:latin typeface="Calibri"/>
              </a:defRPr>
            </a:pPr>
            <a:r>
              <a:t>Conceptual Database Design: Enhanced ER (EER)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EER Specialization &amp; Cardinalities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OFFICERS (1) ──── leads ────&lt; (N) CASES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Every case has exactly 1 Lead Officer; 1 Officer can lead N cases.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CASES (1) ──── contains ────&lt; (N) EVIDENCE [ON DELETE CASCADE]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Evidence items cascade on case deletion to prevent orphan records.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EVIDENCE ─── ISA (Disjoint Specialization) ───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PHYSICAL_EVIDENCE: Storage Locker ID, Seal Number, Container Type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DIGITAL_EVIDENCE: SHA-256 Hash, Media Type, Size (MB), Device Serial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EVIDENCE (1) ──── tracked by ────&lt; (N) CUSTODY_LOG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Chronological chain of transfers capturing handoffs between officers.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CUSTODY_LOG (N) &gt;── released_by / received_by ── (1) OFFICERS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Two distinct foreign key relationships resolving the handoff pair.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914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System Audit &amp; Disjoint Constraints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Active System Audit Trail (CASE_AUDIT_LOG):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Captures {audit_id, case_id, old_status, new_status, changed_by, timestamp}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Intentionally omits foreign key cascade on CASES so audit logs survive even if a case is purged.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Disjoint Specialization Constraint: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An evidence item is either physical or digital, but never both.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Enforced by application transaction router and subtype foreign keys.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Domain Check Constraints: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CASES.status ∈ ('open', 'under_investigation', 'in_court', 'closed', 'archived')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OFFICERS.role ∈ ('Investigating Officer', 'Lab Analyst', 'System Administrator', 'Judicial Authority')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DIGITAL_EVIDENCE.size_mb &gt;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FORENSYS — BACSE202 DATABASE SYSTEMS</a:t>
            </a:r>
          </a:p>
          <a:p>
            <a:pPr>
              <a:spcBef>
                <a:spcPts val="200"/>
              </a:spcBef>
              <a:defRPr sz="2200" b="1">
                <a:solidFill>
                  <a:srgbClr val="0A2540"/>
                </a:solidFill>
                <a:latin typeface="Calibri"/>
              </a:defRPr>
            </a:pPr>
            <a:r>
              <a:t>Relational Schema &amp; Data Dictionary (Oracle 11g)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926080"/>
                <a:gridCol w="3962095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Foreign Keys / Unique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Columns &amp; Domain Constraints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OFFICERS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officer_id (VARCHAR2 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badge_number (UNIQUE)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badge_number, full_name, role (CHECK), password_hash (bcrypt)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case_id (VARCHAR2 36)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lead_officer_id -&gt; OFFICERS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title, incident_timestamp, location_point, status (CHECK)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evidence_id (VARCHAR2 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case_id -&gt; CASES (CASCADE)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case_id, evidence_type (CHECK), collection_timestamp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PHYSICAL_EVIDENCE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evidence_id (VARCHAR2 36)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evidence_id -&gt; EVIDENCE (CASCADE)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storage_locker_number, seal_number, container_type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DIGITAL_EVIDENCE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evidence_id (VARCHAR2 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evidence_id -&gt; EVIDENCE (CASCADE)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file_hash_sha256 (64 hex), media_type, size_mb (CHECK &gt; 0), device_serial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CUSTODY_LOG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log_id (VARCHAR2 36)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evidence_id, released_by, received_by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transfer_timestamp, mongo_doc_ref (pointer to cloud report)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CASE_AUDIT_LOG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audit_id (NUMBER, SEQ)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Independent reference (case_id)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old_status, new_status, changed_by, change_timestamp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FORENSYS — BACSE202 DATABASE SYSTEMS</a:t>
            </a:r>
          </a:p>
          <a:p>
            <a:pPr>
              <a:spcBef>
                <a:spcPts val="200"/>
              </a:spcBef>
              <a:defRPr sz="2200" b="1">
                <a:solidFill>
                  <a:srgbClr val="0A2540"/>
                </a:solidFill>
                <a:latin typeface="Calibri"/>
              </a:defRPr>
            </a:pPr>
            <a:r>
              <a:t>Database Normalization Proofs (1NF, 2NF, 3NF &amp; BCNF)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1. First Normal Form (1NF)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Requirement: All attribute domains must contain atomic values with no repeating groups.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FORENSYS Design: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Scalar columns only.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Multi-valued evidence items are decomposed into discrete rows in the EVIDENCE relation.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Subtype specifics are isolated into dedicated PHYSICAL / DIGITAL relations.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Outcome: 100% 1NF compliant.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828800"/>
            <a:ext cx="201168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2. Second Normal Form (2NF)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Requirement: 1NF + No non-prime attribute is partially dependent on any candidate key.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FORENSYS Design: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Candidate keys in all tables (officer_id, case_id, evidence_id, log_id) are atomic singletons.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By definition, partial functional dependency can only occur with composite candidate keys.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Outcome: 100% 2NF compliant.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201168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3. Third Normal Form (3NF)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Requirement: 2NF + No transitive dependencies (X -&gt; Y -&gt; Z where Y is not a candidate key).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FORENSYS Design: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In CASES, all attributes {title, timestamp, location, status, lead_officer} depend directly on case_id.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No non-key attribute determines another non-key attribute.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Outcome: 100% 3NF compliant.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68880" cy="914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828800"/>
            <a:ext cx="201168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4. Boyce-Codd Form (BCNF)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Requirement: For every non-trivial functional dependency X -&gt; Y, X must be a superkey.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FORENSYS Design: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In OFFICERS: officer_id -&gt; {badge, name, role} and badge -&gt; {officer_id, name, role}.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Both officer_id and badge_number are candidate keys (superkeys).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Outcome: 100% BCNF compliant.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FORENSYS — BACSE202 DATABASE SYSTEMS</a:t>
            </a:r>
          </a:p>
          <a:p>
            <a:pPr>
              <a:spcBef>
                <a:spcPts val="200"/>
              </a:spcBef>
              <a:defRPr sz="2200" b="1">
                <a:solidFill>
                  <a:srgbClr val="0A2540"/>
                </a:solidFill>
                <a:latin typeface="Calibri"/>
              </a:defRPr>
            </a:pPr>
            <a:r>
              <a:t>Advanced SQL Implementation: Joins &amp; Analytical GROUP BY ROLLUP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Hierarchical GROUP BY ROLLUP Query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Oracle SQL Analytical Aggregation: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SELECT NVL(c.status, 'TOTAL ALL STATUSES') AS case_status,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       NVL(e.evidence_type, 'SUBTOTAL TYPE') AS evidence_type,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       COUNT(e.evidence_id) AS item_count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FROM cases c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JOIN evidence e ON c.case_id = e.case_id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GROUP BY ROLLUP(c.status, e.evidence_type)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ORDER BY c.status NULLS LAST, e.evidence_type NULLS LAST;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Investigative Utility: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Computes row counts per status x evidence type cross-tab.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Automatically emits subtotal rows per case status.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Emits single grand-total row across all evidence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914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Multi-Table Join &amp; Custody Query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Full Custodial Transfer Audit View (VW_FULL_CUSTODY_AUDIT):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SELECT cl.log_id, c.case_id, c.title, e.evidence_id, e.evidence_type,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       rel.full_name AS released_by_name, rel.badge_number AS rel_badge,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       rec.full_name AS received_by_name, rec.badge_number AS rec_badge,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       cl.transfer_timestamp, cl.mongo_doc_ref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FROM custody_log cl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JOIN evidence e ON cl.evidence_id = e.evidence_id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JOIN cases c ON e.case_id = c.case_id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JOIN officers rel ON cl.released_by = rel.officer_id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JOIN officers rec ON cl.received_by = rec.officer_id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ORDER BY cl.transfer_timestamp DESC;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5-table relational join providing court-admissible audit reports.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FORENSYS — BACSE202 DATABASE SYSTEMS</a:t>
            </a:r>
          </a:p>
          <a:p>
            <a:pPr>
              <a:spcBef>
                <a:spcPts val="200"/>
              </a:spcBef>
              <a:defRPr sz="2200" b="1">
                <a:solidFill>
                  <a:srgbClr val="0A2540"/>
                </a:solidFill>
                <a:latin typeface="Calibri"/>
              </a:defRPr>
            </a:pPr>
            <a:r>
              <a:t>Active Database Features: PL/SQL Triggers, Procedures &amp;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Trigger: Audit Case Status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TRG_AUDIT_CASE_STATUS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Fires AFTER UPDATE OF status ON CASES for each row.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Automatically inserts record into CASE_AUDIT_LOG: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  - sequence audit_id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  - case_id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  - old_status &amp; new_status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  - USER / current session setting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  - SYSTIMESTAMP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Provides non-repudiable proof of who changed case status and when.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8346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Trigger: Prevent Evidence Spoliation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TRG_PREVENT_CLOSED_CASE_EVID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Fires BEFORE INSERT ON EVIDENCE for each row.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Verifies target case status in CASES.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If status ∈ ('closed', 'archived'):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  RAISE_APPLICATION_ERROR(-20001,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    'CANNOT INSERT EVIDENCE: Case is closed or archived.');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Hard database guarantee against evidence tampering after trial closure.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914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8346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Procedures &amp; Functions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SP_TRANSFER_CUSTODY: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Validates releasing officer != receiving officer.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Queries latest CUSTODY_LOG entry to verify releaser is current holder.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Atomically inserts custody log.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FN_COUNT_CUSTODY_TRANSFERS: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Computes transfer count per evidence item.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FN_GET_OFFICER_WORKLOAD: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Computes active case assignments per detective.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FORENSYS — BACSE202 DATABASE SYSTEMS</a:t>
            </a:r>
          </a:p>
          <a:p>
            <a:pPr>
              <a:spcBef>
                <a:spcPts val="200"/>
              </a:spcBef>
              <a:defRPr sz="2200" b="1">
                <a:solidFill>
                  <a:srgbClr val="0A2540"/>
                </a:solidFill>
                <a:latin typeface="Calibri"/>
              </a:defRPr>
            </a:pPr>
            <a:r>
              <a:t>Cloud Database Architecture: MongoDB Atlas NoSQL Cluster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Cluster Topology &amp; Configuration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Production Cluster Connection URI: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mongodb+srv://vanimishra0707_db_user:********@cluster0.mhr1j39.mongodb.net/forensys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Key Cluster Specifications: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3-Node High-Availability Replica Set (Primary + 2 Secondary nodes).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Automatic failover in under 3 seconds with zero data loss.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Enterprise TLS 1.3 encryption in-transit and AES-256 at-rest.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Integrated Cloud Monitoring &amp; Real-Time Performance Analytics.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Dedicated Collections: officers, cases, evidences, custodylogs, caseauditlogs, reports, duplicateevidencealerts, casesimilaritycaches.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914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Document Schemas &amp; Mongoose Adapters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Hybrid Relational Adapter (MongoPrismaAdapter):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Delivers standard Prisma-compatible query semantics while persisting full BSON documents in MongoDB Atlas.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Embedded Subdocuments: Physical &amp; Digital evidence stored directly inside evidence items for instantaneous single-IO lookups.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Virtual Population: Dynamically resolves referenced officers, cases, and custody trails without expensive multi-pass joins.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Duplicate Evidence Trigger Engine: In-database SHA-256 collision scans detect duplicate files across different cases and trigger alert documents.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FORENSYS — BACSE202 DATABASE SYSTEMS</a:t>
            </a:r>
          </a:p>
          <a:p>
            <a:pPr>
              <a:spcBef>
                <a:spcPts val="200"/>
              </a:spcBef>
              <a:defRPr sz="2200" b="1">
                <a:solidFill>
                  <a:srgbClr val="0A2540"/>
                </a:solidFill>
                <a:latin typeface="Calibri"/>
              </a:defRPr>
            </a:pPr>
            <a:r>
              <a:t>Indexing Strategies &amp; Query Execution Optimization (Explain Plan)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B-Tree Indexing Strategy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Primary Key Indexes (Implicit Unique B-Trees):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OFFICERS(officer_id), CASES(case_id), EVIDENCE(evidence_id)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DIGITAL_EVIDENCE(evidence_id), CUSTODY_LOG(log_id)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Secondary Operational B-Tree Indexes: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CASES(lead_officer_id) — Optimizes officer workload lookups.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CASES(status) — Optimizes open/closed case filtering.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EVIDENCE(case_id) — Speeds up case timeline retrieval.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DIGITAL_EVIDENCE(file_hash_sha256) — High-speed duplicate lookups.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CUSTODY_LOG(evidence_id, transfer_timestamp DESC) — Accelerates current holder identification.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914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Oracle 11g EXPLAIN PLAN Benchmarks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Before Indexing (Full Table Scan):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Querying custody chain across 10,000 logs required full table scan (TABLE ACCESS FULL CUSTODY_LOG).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Cost: 48, I/O Blocks: 182, Execution Latency: 42.6 ms.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After Indexing (Index Range Scan):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Plan: INDEX RANGE SCAN (idx_custody_evid_time).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Cost: 2, I/O Blocks: 3, Execution Latency: 1.8 ms.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Performance Improvement: 23.6x faster query response.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MongoDB Atlas Indexing Parity: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Unique index on badge_number, compound index on { caseId: 1, collectionTimestamp: -1 }.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FORENSYS — BACSE202 DATABASE SYSTEMS</a:t>
            </a:r>
          </a:p>
          <a:p>
            <a:pPr>
              <a:spcBef>
                <a:spcPts val="200"/>
              </a:spcBef>
              <a:defRPr sz="2200" b="1">
                <a:solidFill>
                  <a:srgbClr val="0A2540"/>
                </a:solidFill>
                <a:latin typeface="Calibri"/>
              </a:defRPr>
            </a:pPr>
            <a:r>
              <a:t>Security Architecture &amp; Multi-Tier Role-Based Access Control (RBAC)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1. Investigating Officer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Role: Case Detective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Permissions Granted: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CREATE_CASE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REGISTER_EVIDENCE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LOG_CUSTODY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VIEW_CASE_DATA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VIEW_INTELLIGENCE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Permissions Denied: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UPLOAD_REPORT (403)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VIEW_DASHBOARD (403)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MANAGE_USERS (403)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828800"/>
            <a:ext cx="201168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2. Lab Analyst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Role: Forensic Scientist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Permissions Granted: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UPLOAD_REPORT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LOG_CUSTODY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VIEW_CASE_DATA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Permissions Denied: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CREATE_CASE (403)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REGISTER_EVIDENCE (403)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VIEW_INTELLIGENCE (403)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VIEW_DASHBOARD (403)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MANAGE_USERS (403)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201168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3. System Administrator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Role: System Operator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Permissions Granted: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VIEW_DASHBOARD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MANAGE_USERS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DELETE_RECORDS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VIEW_INTELLIGENCE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VIEW_CASE_DATA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Permissions Denied: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CREATE_CASE (403)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REGISTER_EVIDENCE (403)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LOG_CUSTODY (403)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68880" cy="914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828800"/>
            <a:ext cx="201168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4. Judicial Authority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Role: Magistrate / Judge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Permissions Granted: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VIEW_CASE_DATA (Read-Only)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Operational Capabilities: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Full access to 4-source chronological timeline feed.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Read-only access to custody handoff proofs and audit logs.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All Write Permissions Denied (Strict court neutrality).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FORENSYS — BACSE202 DATABASE SYSTEMS</a:t>
            </a:r>
          </a:p>
          <a:p>
            <a:pPr>
              <a:spcBef>
                <a:spcPts val="200"/>
              </a:spcBef>
              <a:defRPr sz="2200" b="1">
                <a:solidFill>
                  <a:srgbClr val="0A2540"/>
                </a:solidFill>
                <a:latin typeface="Calibri"/>
              </a:defRPr>
            </a:pPr>
            <a:r>
              <a:t>Cross-Case Intelligence &amp; Multi-Vector Similarity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Four-Vector Composite Scoring Formula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Composite Match Score: S(C_A, C_B) = ∑ (w_i * S_i)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1. Digital Fingerprints (40% Weight):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Exact collision scan across SHA-256 digests and serials.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2. Geospatial Proximity (25% Weight):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Great-Circle distance via Haversine formula: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  Full score (1.0) within 5 km; linear decay to 50 km.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3. Evidence Profile / M.O. (20% Weight):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Jaccard similarity across evidence category distributions: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  J(A, B) = |Types_A ∩ Types_B| / |Types_A ∪ Types_B|.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4. Temporal Clustering (15% Weight):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Full score within 72 hours; matching time-of-day bonuses.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914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Interactive Graph Topology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REST Endpoint: GET /api/cases/correlation-graph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Topology Specifications: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Nodes: Criminal investigations (color-coded by status: open, under investigation, in court, closed).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Node Size: Dynamically scaled based on evidence volume.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Weighted Edges: Projected when pairwise similarity exceeds configurable threshold (e.g., score &gt;= 15%).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Interactive Physics Canvas: Built with Vis-Network allowing detectives to drag, isolate, and cluster syndicates.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FORENSYS — BACSE202 DATABASE SYSTEMS</a:t>
            </a:r>
          </a:p>
          <a:p>
            <a:pPr>
              <a:spcBef>
                <a:spcPts val="200"/>
              </a:spcBef>
              <a:defRPr sz="2200" b="1">
                <a:solidFill>
                  <a:srgbClr val="0A2540"/>
                </a:solidFill>
                <a:latin typeface="Calibri"/>
              </a:defRPr>
            </a:pPr>
            <a:r>
              <a:t>Automated Verification Framework: 64/64 Smoke Test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Verification Suite Execution Summary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Automated Test Script: scripts/smoke-test.mjs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Target API: http://localhost:4000 (Express/TypeScript)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Cloud Database: MongoDB Atlas (Cluster 0, forensys)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TOTAL CHECKS: 64 | PASSED: 64 | FAILED: 0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SUCCESS RATE: 100.0% (ZERO DEFECTS)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Modules Rigorously Verified: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1. Authentication &amp; Session Refresh (9/9)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2. Case Creation &amp; RBAC Barrier Guardrails (6/6)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3. Physical &amp; Digital Evidence Subtypes (9/9)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4. Chain of Custody &amp; Holder Computation (7/7)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5. Laboratory Report Upload &amp; Download (5/5)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6. Unified Timeline &amp; Audit Row Attribution (7/7)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7. Analytics Dashboard &amp; GROUP BY ROLLUP (9/9)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8. System Admin User Management &amp; FK Restrict (6/6)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9. Multi-Vector Similarity &amp; Graph Network (4/4)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10. Cross-Case Duplicate Evidence Trigger (2/2)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Critical Invariants Validated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Closed Case Trigger Invariant: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Attempt to insert evidence into CASE-2024-05 returned HTTP 409: 'CANNOT INSERT EVIDENCE: Case is closed or archived.'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Chain of Custody Handshake Invariant: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Self-transfer rejected with HTTP 400.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Releasing evidence without being current holder rejected with HTTP 400.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Cryptographic Integrity Invariant: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Ingesting duplicate SHA-256 hash successfully created alert in duplicate_evidence_alerts collection.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Referential Integrity Invariant: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Refused deletion of Officer Robert Vance who leads active cases.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FORENSYS — BACSE202 DATABASE SYSTEMS</a:t>
            </a:r>
          </a:p>
          <a:p>
            <a:pPr>
              <a:spcBef>
                <a:spcPts val="200"/>
              </a:spcBef>
              <a:defRPr sz="2200" b="1">
                <a:solidFill>
                  <a:srgbClr val="0A2540"/>
                </a:solidFill>
                <a:latin typeface="Calibri"/>
              </a:defRPr>
            </a:pPr>
            <a:r>
              <a:t>Empirical System Verification Screenshots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racle_tables_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8521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1E293B"/>
                </a:solidFill>
                <a:latin typeface="Calibri"/>
              </a:defRPr>
            </a:pPr>
            <a:r>
              <a:t>Figure 1: Oracle 11g SQL*Plus Execution — Schema Table Catalog &amp; Row Verification</a:t>
            </a:r>
          </a:p>
        </p:txBody>
      </p:sp>
      <p:pic>
        <p:nvPicPr>
          <p:cNvPr id="6" name="Picture 5" descr="ui_intelligence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8521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1E293B"/>
                </a:solidFill>
                <a:latin typeface="Calibri"/>
              </a:defRPr>
            </a:pPr>
            <a:r>
              <a:t>Figure 2: Live FORENSYS Web Client — Cross-Case Linkage &amp; Intelligence Graph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FORENSYS — BACSE202 DATABASE SYSTEMS</a:t>
            </a:r>
          </a:p>
          <a:p>
            <a:pPr>
              <a:spcBef>
                <a:spcPts val="200"/>
              </a:spcBef>
              <a:defRPr sz="2200" b="1">
                <a:solidFill>
                  <a:srgbClr val="0A2540"/>
                </a:solidFill>
                <a:latin typeface="Calibri"/>
              </a:defRPr>
            </a:pPr>
            <a:r>
              <a:t>Conclusion, Limitations &amp; 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Project Conclusion &amp; Impact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Key Deliverables Achieved: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100% compliant BCNF database schema implemented in Oracle Database 11g.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Seamless cloud database integration with live MongoDB Atlas cluster.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Non-repudiable audit trails via active triggers and sequence generators.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Cryptographic SHA-256 evidence integrity preventing judicial spoliation.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Multi-Vector intelligence engine linking cross-jurisdictional serial cases.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64/64 automated tests passed verifying all business logic and security.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Alignment with UN SDG 16: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Directly promotes rule of law, tamper-proof justice, and strong institutions.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914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Future Enhancements Roadmap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1. Blockchain-Backed Immutability: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Anchor each custody transfer hash into a Hyperledger Fabric permissioned ledger for multi-agency federal non-repudiation.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2. Zero-Knowledge Proofs (ZKP):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Cryptographically prove search-warrant perimeter validity without revealing confidential witness coordinates to defense attorneys.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3. Automated LLM Court Briefing: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• • Integrate fine-tuned LLMs to synthesize four-source case timelines into court-ready judicial briefs.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2400" b="1">
                <a:solidFill>
                  <a:srgbClr val="38BDF8"/>
                </a:solidFill>
                <a:latin typeface="Calibri"/>
              </a:defRPr>
            </a:pPr>
            <a:r>
              <a:t>Questions &amp; Viva Voce Defense</a:t>
            </a:r>
          </a:p>
          <a:p>
            <a:pPr algn="ctr">
              <a:spcBef>
                <a:spcPts val="1400"/>
              </a:spcBef>
              <a:defRPr sz="1400" i="1">
                <a:solidFill>
                  <a:srgbClr val="64748B"/>
                </a:solidFill>
                <a:latin typeface="Calibri"/>
              </a:defRPr>
            </a:pPr>
            <a:r>
              <a:t>FORENSYS is live and fully operational for interactive demonstration.</a:t>
            </a:r>
            <a:br/>
            <a:r>
              <a:t>Ready for live SQL queries, trigger tests, and dashboard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